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70BA"/>
                </a:solidFill>
              </a:defRPr>
            </a:pPr>
            <a:r>
              <a:t>KLE TECHNOLOGICAL UNIVERSITY  ×  SAMSUNG  |  PROJECT SEED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2540"/>
                </a:solidFill>
              </a:defRPr>
            </a:pPr>
            <a:r>
              <a:t>Automotive Surveillance Mode (ASM)</a:t>
            </a:r>
          </a:p>
          <a:p>
            <a:pPr>
              <a:spcBef>
                <a:spcPts val="800"/>
              </a:spcBef>
              <a:defRPr sz="1600">
                <a:solidFill>
                  <a:srgbClr val="475569"/>
                </a:solidFill>
              </a:defRPr>
            </a:pPr>
            <a:r>
              <a:t>Low-Power Surround Perception via Temporal Redundancy Reduction &amp; Shared DINOv2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840480"/>
            <a:ext cx="31546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A2540"/>
                </a:solidFill>
              </a:defRPr>
            </a:pPr>
            <a:r>
              <a:t>Surround View Context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4 Fisheye cameras on Ego Vehicle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Continuous parked monitoring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Battery SoC preservation goal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3840480"/>
            <a:ext cx="31546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A2540"/>
                </a:solidFill>
              </a:defRPr>
            </a:pPr>
            <a:r>
              <a:t>Temporal Optimization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Native 5 FPS downsampling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83.3% redundancy elimination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Temporal tubelet action pooling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3840480"/>
            <a:ext cx="31546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A2540"/>
                </a:solidFill>
              </a:defRPr>
            </a:pPr>
            <a:r>
              <a:t>PVA Processor Target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Compute target: &lt; 10 GMACs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Single shared vision backbone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Real-time threat alerts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70BA"/>
                </a:solidFill>
              </a:defRPr>
            </a:pPr>
            <a:r>
              <a:t>OBJECTIVE 1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Problem Statement &amp; Project KPIs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A2540"/>
                </a:solidFill>
              </a:defRPr>
            </a:pPr>
            <a:r>
              <a:t>Surveillance Mode Problem Statement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Vehicle Context: ASM uses 4 Surround View Fisheye Cameras (Front, Rear, Left, Right) to monitor parked vehicles.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Battery Challenge: DINOv2 is pre-trained on static images. Processing full-rate video exhausts battery State of Charge (SoC).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Hardware Target: Pipeline must run on a low-power automotive PVA processor during extended parking periods.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Core Strategy: Exploit high temporal redundancy across video frames while maintaining surveillance accuracy.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664208"/>
            <a:ext cx="137160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HARDWARE CRITICAL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A2540"/>
                </a:solidFill>
              </a:defRPr>
            </a:pPr>
            <a:r>
              <a:t>Primary Compute &amp; Hardware KPI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Compute Budget: &lt; 10 GMACs per camera frame.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Processing Target: Low-power PVA embedded accelerator.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Frame Rate: Reduced from 30 FPS to 5 FPS (6x compute savings).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664208"/>
            <a:ext cx="1371600" cy="292608"/>
          </a:xfrm>
          <a:prstGeom prst="round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&lt; 10 GMACs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77639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A2540"/>
                </a:solidFill>
              </a:defRPr>
            </a:pPr>
            <a:r>
              <a:t>Perception Quality KPIs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Surveillance Dataset: Selected open-source VIRAT video benchmark.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Action Recognition: Spatial tubelets + temporal transformer head.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Object Detection: Adapter-v2 + YOLO26 for actors &amp; vehicles.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4178807"/>
            <a:ext cx="137160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VIRAT DATASET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70BA"/>
                </a:solidFill>
              </a:defRPr>
            </a:pPr>
            <a:r>
              <a:t>OBJECTIVE 2: OPTIMIZATION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High-Level System Architecture</a:t>
            </a:r>
          </a:p>
        </p:txBody>
      </p:sp>
      <p:pic>
        <p:nvPicPr>
          <p:cNvPr id="5" name="Picture 4" descr="asm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5912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806440"/>
            <a:ext cx="341071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000" b="1">
                <a:solidFill>
                  <a:srgbClr val="0070BA"/>
                </a:solidFill>
              </a:defRPr>
            </a:pPr>
            <a:r>
              <a:t>Decimated Input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5 FPS Sampling (6x redundancy cut)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5806440"/>
            <a:ext cx="341071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000" b="1">
                <a:solidFill>
                  <a:srgbClr val="0070BA"/>
                </a:solidFill>
              </a:defRPr>
            </a:pPr>
            <a:r>
              <a:t>Shared Backbone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DINOv2 ViT-S/14 Single Forward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5806440"/>
            <a:ext cx="341071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000" b="1">
                <a:solidFill>
                  <a:srgbClr val="0070BA"/>
                </a:solidFill>
              </a:defRPr>
            </a:pPr>
            <a:r>
              <a:t>Multi-Task Output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Coupled Detection &amp; Tubelet Action Heads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70BA"/>
                </a:solidFill>
              </a:defRPr>
            </a:pPr>
            <a:r>
              <a:t>OBJECTIVE 3: VALIDATION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Overfitting Diagnosis &amp; Validation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A2540"/>
                </a:solidFill>
              </a:defRPr>
            </a:pPr>
            <a:r>
              <a:t>Diagnostic: Why 100% Accuracy Was Overfitting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Observation: Initial training test reported 100% accuracy and 0.0006 loss across all classes.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Root Cause: Evaluated on the exact same clips used for training (Resubstitution testing).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High Model Capacity: A 2.47M parameter Transformer easily memorized 57 sample tubelets.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Risk: Severe failure on unseen automotive scenes with different camera angles and lighting.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664208"/>
            <a:ext cx="137160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DIAGNOSED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A2540"/>
                </a:solidFill>
              </a:defRPr>
            </a:pPr>
            <a:r>
              <a:t>1. Leave-One-Scene-Out (LOSO) Validation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Fold 1: Train on Scenes 2 &amp; 3  →  Test on unseen Scene 1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Fold 2: Train on Scenes 1 &amp; 3  →  Test on unseen Scene 2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Fold 3: Train on Scenes 1 &amp; 2  →  Test on unseen Scene 3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Result: Measures true generalization on unseen surveillance cameras.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664208"/>
            <a:ext cx="1371600" cy="292608"/>
          </a:xfrm>
          <a:prstGeom prst="round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3-FOLD LOSO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77639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A2540"/>
                </a:solidFill>
              </a:defRPr>
            </a:pPr>
            <a:r>
              <a:t>2. Regularization &amp; Early Stopping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Gaussian Feature Jitter: Noise injection (sigma=0.04) on DINOv2 embeddings.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Feature Dropout: p=0.15 dimension dropout to prevent co-adaptation.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Label Smoothing: 0.10 cross-entropy smoothing to penalize overconfidence.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Early Stopping: Monitored validation loss with patience of 8 epochs.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4178807"/>
            <a:ext cx="137160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REGULARIZED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70BA"/>
                </a:solidFill>
              </a:defRPr>
            </a:pPr>
            <a:r>
              <a:t>BENCHMARKING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Performance Benchmarking: Baseline vs. Optimized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10712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>
              <a:defRPr sz="1100" b="1">
                <a:solidFill>
                  <a:srgbClr val="475569"/>
                </a:solidFill>
              </a:defRPr>
            </a:pPr>
            <a:r>
              <a:t>Baseline (K400 Probe)</a:t>
            </a:r>
          </a:p>
          <a:p>
            <a:pPr>
              <a:defRPr sz="2800" b="1">
                <a:solidFill>
                  <a:srgbClr val="475569"/>
                </a:solidFill>
              </a:defRPr>
            </a:pPr>
            <a:r>
              <a:t>22.4%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Global Linear Probe (Zero spatial actor awareness)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10712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>
              <a:defRPr sz="1100" b="1">
                <a:solidFill>
                  <a:srgbClr val="475569"/>
                </a:solidFill>
              </a:defRPr>
            </a:pPr>
            <a:r>
              <a:t>Initial Model Run</a:t>
            </a:r>
          </a:p>
          <a:p>
            <a:pPr>
              <a:defRPr sz="2800" b="1">
                <a:solidFill>
                  <a:srgbClr val="F59E0B"/>
                </a:solidFill>
              </a:defRPr>
            </a:pPr>
            <a:r>
              <a:t>100.0%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Overfitted Memorization (0.0006 loss resubstitution)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410712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>
              <a:defRPr sz="1100" b="1">
                <a:solidFill>
                  <a:srgbClr val="475569"/>
                </a:solidFill>
              </a:defRPr>
            </a:pPr>
            <a:r>
              <a:t>Optimized Model (LOSO)</a:t>
            </a:r>
          </a:p>
          <a:p>
            <a:pPr>
              <a:defRPr sz="2800" b="1">
                <a:solidFill>
                  <a:srgbClr val="10B981"/>
                </a:solidFill>
              </a:defRPr>
            </a:pPr>
            <a:r>
              <a:t>70.83%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Generalization on Unseen Surveillance Scenes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725912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05840" y="3383280"/>
          <a:ext cx="1017727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1828800"/>
                <a:gridCol w="2011680"/>
                <a:gridCol w="1947672"/>
              </a:tblGrid>
              <a:tr h="53035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A2540"/>
                          </a:solidFill>
                        </a:defRPr>
                      </a:pPr>
                      <a:r>
                        <a:t>Metric / Dimension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A2540"/>
                          </a:solidFill>
                        </a:defRPr>
                      </a:pPr>
                      <a:r>
                        <a:t>Baseline Probe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A2540"/>
                          </a:solidFill>
                        </a:defRPr>
                      </a:pPr>
                      <a:r>
                        <a:t>Initial Run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A2540"/>
                          </a:solidFill>
                        </a:defRPr>
                      </a:pPr>
                      <a:r>
                        <a:t>New Optimized Model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A2540"/>
                          </a:solidFill>
                        </a:defRPr>
                      </a:pPr>
                      <a:r>
                        <a:t>Validation Scope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Frame Rate 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30 FPS (Raw)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30 FPS (Stride 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70BA"/>
                          </a:solidFill>
                        </a:defRPr>
                      </a:pPr>
                      <a:r>
                        <a:t>5 FPS (Decimated)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Temporal compute cut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Top-1 Accuracy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22.4%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100.0% (Overfit)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70BA"/>
                          </a:solidFill>
                        </a:defRPr>
                      </a:pPr>
                      <a:r>
                        <a:t>70.83%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Unseen Surveillance Folds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Weighted F1-Score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100.0% (Overfit)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70BA"/>
                          </a:solidFill>
                        </a:defRPr>
                      </a:pPr>
                      <a:r>
                        <a:t>69.16%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Out-of-Distribution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Action Performance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Poor transfer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100.0% (Memorized)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70BA"/>
                          </a:solidFill>
                        </a:defRPr>
                      </a:pPr>
                      <a:r>
                        <a:t>Walk: 75% | Stand: 70%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Spatiotemporal Tubelets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70BA"/>
                </a:solidFill>
              </a:defRPr>
            </a:pPr>
            <a:r>
              <a:t>DELIVERABLES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Project Roadmap &amp;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10712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A2540"/>
                </a:solidFill>
              </a:defRPr>
            </a:pPr>
            <a:r>
              <a:t>Completed: Milestone 1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Selected open-source VIRAT surveillance dataset.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Set up and evaluated baseline with current pipeline.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Implemented 5 FPS temporal subsampling (83.3% redundancy cut).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Built Tubelet Pooler &amp; 2-Layer Transformer Action Head.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96312" y="1664208"/>
            <a:ext cx="137160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ACHIEVED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10712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A2540"/>
                </a:solidFill>
              </a:defRPr>
            </a:pPr>
            <a:r>
              <a:t>Completed: Milestone 2 (Validation)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Diagnosed 100% memorization on resubstitution testing.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Conducted 3-Fold Leave-One-Scene-Out (LOSO) validation.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Achieved 70.83% Top-1 Accuracy on unseen surveillance scenes.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Generated calibrated model checkpoint (best.pth).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3912" y="1664208"/>
            <a:ext cx="137160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ACHIEVED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410712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A2540"/>
                </a:solidFill>
              </a:defRPr>
            </a:pPr>
            <a:r>
              <a:t>Next Phase: Low-Power PVA Target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Temporal token pruning / motion differencing.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Optimize compute to meet &lt; 10 GMACs per frame KPI.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GPU / PVA profiling for memory and latency.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Multi-camera surround view spatial stitching.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11512" y="1664208"/>
            <a:ext cx="1371600" cy="292608"/>
          </a:xfrm>
          <a:prstGeom prst="round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UPCOMING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